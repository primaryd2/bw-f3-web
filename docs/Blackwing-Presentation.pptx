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1B2E4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BLACKWING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76656" y="2286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SWEDEN AB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8368" y="2788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AF1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Aircraft Management Platform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76656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 ·  Maintenance  ·  CRM  ·  Customer Portal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818120" y="1325880"/>
            <a:ext cx="868680" cy="868680"/>
          </a:xfrm>
          <a:prstGeom prst="ellipse">
            <a:avLst/>
          </a:prstGeom>
          <a:solidFill>
            <a:srgbClr val="2E6BB8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18120" y="1325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✈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6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four jobs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operational side of Blackwing needs, in a single web application.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9776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1965960"/>
            <a:ext cx="548640" cy="548640"/>
          </a:xfrm>
          <a:prstGeom prst="ellipse">
            <a:avLst/>
          </a:prstGeom>
          <a:solidFill>
            <a:srgbClr val="2E6BB8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58952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19293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 Management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63040" y="23317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registry of every airframe built and in service — configuration, weight &amp; balance, and full history.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1691640"/>
            <a:ext cx="39776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10912" y="1965960"/>
            <a:ext cx="548640" cy="548640"/>
          </a:xfrm>
          <a:prstGeom prst="ellipse">
            <a:avLst/>
          </a:prstGeom>
          <a:solidFill>
            <a:srgbClr val="5B9BD5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10912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715000" y="19293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715000" y="23317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intervals, planned-maintenance scheduling, service bulletins and airworthiness tracking.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374136"/>
            <a:ext cx="39776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58952" y="3648456"/>
            <a:ext cx="548640" cy="548640"/>
          </a:xfrm>
          <a:prstGeom prst="ellipse">
            <a:avLst/>
          </a:prstGeom>
          <a:solidFill>
            <a:srgbClr val="2E9E6B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8952" y="3648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3611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63040" y="401421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records, communication history, and detailed configuration proposals with pricing.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3374136"/>
            <a:ext cx="39776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10912" y="3648456"/>
            <a:ext cx="548640" cy="548640"/>
          </a:xfrm>
          <a:prstGeom prst="ellipse">
            <a:avLst/>
          </a:prstGeom>
          <a:solidFill>
            <a:srgbClr val="D98A2B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10912" y="3648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715000" y="3611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Portal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715000" y="401421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separate, secured website where owners follow their build and request maintenance.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6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needs attention today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4297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landing page after login. Live operational status at a glance: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statistics — produced, delivered, in service, countries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Airworthiness certificates expiring within 60 days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overdue or due soon (by date or flight hours)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service bulletins and new portal requests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30-day list and a monthly maintenance calendar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74920" y="1371600"/>
            <a:ext cx="35661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184648" y="137160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0" y="1444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portal requests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0" y="16916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waiting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57032" y="1581912"/>
            <a:ext cx="182880" cy="182880"/>
          </a:xfrm>
          <a:prstGeom prst="ellipse">
            <a:avLst/>
          </a:prstGeom>
          <a:solidFill>
            <a:srgbClr val="2E6BB8"/>
          </a:solidFill>
          <a:ln/>
        </p:spPr>
      </p:sp>
      <p:sp>
        <p:nvSpPr>
          <p:cNvPr id="10" name="Shape 8"/>
          <p:cNvSpPr/>
          <p:nvPr/>
        </p:nvSpPr>
        <p:spPr>
          <a:xfrm>
            <a:off x="5074920" y="2121408"/>
            <a:ext cx="35661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84648" y="212140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🔴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6928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Airworthiness expiring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0" y="24414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within 60 days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57032" y="2331720"/>
            <a:ext cx="182880" cy="182880"/>
          </a:xfrm>
          <a:prstGeom prst="ellipse">
            <a:avLst/>
          </a:prstGeom>
          <a:solidFill>
            <a:srgbClr val="D65745"/>
          </a:solidFill>
          <a:ln/>
        </p:spPr>
      </p:sp>
      <p:sp>
        <p:nvSpPr>
          <p:cNvPr id="15" name="Shape 13"/>
          <p:cNvSpPr/>
          <p:nvPr/>
        </p:nvSpPr>
        <p:spPr>
          <a:xfrm>
            <a:off x="5074920" y="2871216"/>
            <a:ext cx="35661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84648" y="2871216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🟠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69280" y="2944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due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669280" y="319125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upcoming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57032" y="3081528"/>
            <a:ext cx="182880" cy="182880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20" name="Shape 18"/>
          <p:cNvSpPr/>
          <p:nvPr/>
        </p:nvSpPr>
        <p:spPr>
          <a:xfrm>
            <a:off x="5074920" y="3621024"/>
            <a:ext cx="35661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184648" y="3621024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🟡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69280" y="36941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bulletins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0" y="39410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aircraft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57032" y="3831336"/>
            <a:ext cx="182880" cy="182880"/>
          </a:xfrm>
          <a:prstGeom prst="ellipse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6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airframe, fully documented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 record of each aircraft. Search by serial, registration, model or owner — then open a detailed page organised into tabs: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9224" y="2066544"/>
            <a:ext cx="182880" cy="182880"/>
          </a:xfrm>
          <a:prstGeom prst="ellipse">
            <a:avLst/>
          </a:prstGeom>
          <a:solidFill>
            <a:srgbClr val="2E6BB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745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633472" y="187452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79776" y="2066544"/>
            <a:ext cx="182880" cy="182880"/>
          </a:xfrm>
          <a:prstGeom prst="ellipse">
            <a:avLst/>
          </a:prstGeom>
          <a:solidFill>
            <a:srgbClr val="2E6BB8"/>
          </a:solidFill>
          <a:ln/>
        </p:spPr>
      </p:sp>
      <p:sp>
        <p:nvSpPr>
          <p:cNvPr id="10" name="Text 8"/>
          <p:cNvSpPr/>
          <p:nvPr/>
        </p:nvSpPr>
        <p:spPr>
          <a:xfrm>
            <a:off x="3044952" y="18745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64024" y="187452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10328" y="2066544"/>
            <a:ext cx="182880" cy="182880"/>
          </a:xfrm>
          <a:prstGeom prst="ellipse">
            <a:avLst/>
          </a:prstGeom>
          <a:solidFill>
            <a:srgbClr val="2E6BB8"/>
          </a:solidFill>
          <a:ln/>
        </p:spPr>
      </p:sp>
      <p:sp>
        <p:nvSpPr>
          <p:cNvPr id="13" name="Text 11"/>
          <p:cNvSpPr/>
          <p:nvPr/>
        </p:nvSpPr>
        <p:spPr>
          <a:xfrm>
            <a:off x="5175504" y="18745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94576" y="187452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40880" y="2066544"/>
            <a:ext cx="182880" cy="182880"/>
          </a:xfrm>
          <a:prstGeom prst="ellipse">
            <a:avLst/>
          </a:prstGeom>
          <a:solidFill>
            <a:srgbClr val="2E6BB8"/>
          </a:solidFill>
          <a:ln/>
        </p:spPr>
      </p:sp>
      <p:sp>
        <p:nvSpPr>
          <p:cNvPr id="16" name="Text 14"/>
          <p:cNvSpPr/>
          <p:nvPr/>
        </p:nvSpPr>
        <p:spPr>
          <a:xfrm>
            <a:off x="7306056" y="18745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256032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9224" y="2752344"/>
            <a:ext cx="182880" cy="182880"/>
          </a:xfrm>
          <a:prstGeom prst="ellipse">
            <a:avLst/>
          </a:prstGeom>
          <a:solidFill>
            <a:srgbClr val="2E6BB8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25603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633472" y="256032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79776" y="2752344"/>
            <a:ext cx="182880" cy="182880"/>
          </a:xfrm>
          <a:prstGeom prst="ellipse">
            <a:avLst/>
          </a:prstGeom>
          <a:solidFill>
            <a:srgbClr val="2E6BB8"/>
          </a:solidFill>
          <a:ln/>
        </p:spPr>
      </p:sp>
      <p:sp>
        <p:nvSpPr>
          <p:cNvPr id="22" name="Text 20"/>
          <p:cNvSpPr/>
          <p:nvPr/>
        </p:nvSpPr>
        <p:spPr>
          <a:xfrm>
            <a:off x="3044952" y="25603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Paperwork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764024" y="256032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0328" y="2752344"/>
            <a:ext cx="182880" cy="182880"/>
          </a:xfrm>
          <a:prstGeom prst="ellipse">
            <a:avLst/>
          </a:prstGeom>
          <a:solidFill>
            <a:srgbClr val="2E6BB8"/>
          </a:solidFill>
          <a:ln/>
        </p:spPr>
      </p:sp>
      <p:sp>
        <p:nvSpPr>
          <p:cNvPr id="25" name="Text 23"/>
          <p:cNvSpPr/>
          <p:nvPr/>
        </p:nvSpPr>
        <p:spPr>
          <a:xfrm>
            <a:off x="5175504" y="25603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&amp; Balance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94576" y="256032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040880" y="2752344"/>
            <a:ext cx="182880" cy="182880"/>
          </a:xfrm>
          <a:prstGeom prst="ellipse">
            <a:avLst/>
          </a:prstGeom>
          <a:solidFill>
            <a:srgbClr val="2E6BB8"/>
          </a:solidFill>
          <a:ln/>
        </p:spPr>
      </p:sp>
      <p:sp>
        <p:nvSpPr>
          <p:cNvPr id="28" name="Text 26"/>
          <p:cNvSpPr/>
          <p:nvPr/>
        </p:nvSpPr>
        <p:spPr>
          <a:xfrm>
            <a:off x="7306056" y="25603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02920" y="3401568"/>
            <a:ext cx="3977640" cy="1143000"/>
          </a:xfrm>
          <a:prstGeom prst="roundRect">
            <a:avLst>
              <a:gd name="adj" fmla="val 6400"/>
            </a:avLst>
          </a:prstGeom>
          <a:solidFill>
            <a:srgbClr val="EAF1FB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1520" y="3566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intervals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31520" y="38862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services driven by date or flight hours; overdue items surface on the dashboard.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663440" y="3401568"/>
            <a:ext cx="3977640" cy="1143000"/>
          </a:xfrm>
          <a:prstGeom prst="roundRect">
            <a:avLst>
              <a:gd name="adj" fmla="val 6400"/>
            </a:avLst>
          </a:prstGeom>
          <a:solidFill>
            <a:srgbClr val="EAF1FB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92040" y="3566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bulletins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892040" y="38862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Fleet-wide notices linked to specific aircraft, tracked open until resolved.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6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Plan, schedule, sign off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coming in for work are scheduled on the Planned Maintenance board, then completed with a technician sign-off that flows into service history.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27157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2157984"/>
            <a:ext cx="566928" cy="566928"/>
          </a:xfrm>
          <a:prstGeom prst="ellipse">
            <a:avLst/>
          </a:prstGeom>
          <a:solidFill>
            <a:srgbClr val="2E6BB8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58952" y="21579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212848"/>
            <a:ext cx="161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record with arrival date, aircraft and work items.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38144" y="1920240"/>
            <a:ext cx="27157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94176" y="2157984"/>
            <a:ext cx="566928" cy="566928"/>
          </a:xfrm>
          <a:prstGeom prst="ellipse">
            <a:avLst/>
          </a:prstGeom>
          <a:solidFill>
            <a:srgbClr val="2E6BB8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94176" y="21579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98264" y="2212848"/>
            <a:ext cx="161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12464" y="274320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technicians and planning notes.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73368" y="1920240"/>
            <a:ext cx="27157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29400" y="2157984"/>
            <a:ext cx="566928" cy="566928"/>
          </a:xfrm>
          <a:prstGeom prst="ellipse">
            <a:avLst/>
          </a:prstGeom>
          <a:solidFill>
            <a:srgbClr val="2E6BB8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29400" y="21579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33488" y="2212848"/>
            <a:ext cx="161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47688" y="274320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off; work moves into the aircraft history.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3611880"/>
            <a:ext cx="2715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6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60d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502920" y="4279392"/>
            <a:ext cx="271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airworthiness look-ahead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38144" y="3611880"/>
            <a:ext cx="2715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6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30d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3438144" y="4279392"/>
            <a:ext cx="271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calendar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73368" y="3611880"/>
            <a:ext cx="2715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6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hours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6373368" y="4279392"/>
            <a:ext cx="271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date-driven services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6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· CRM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every customer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673352"/>
            <a:ext cx="530352" cy="530352"/>
          </a:xfrm>
          <a:prstGeom prst="ellipse">
            <a:avLst/>
          </a:prstGeom>
          <a:solidFill>
            <a:srgbClr val="2E6BB8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6733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6367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Records &amp; aircraft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03911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and company details, linked to the aircraft each customer owns.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10912" y="1673352"/>
            <a:ext cx="530352" cy="530352"/>
          </a:xfrm>
          <a:prstGeom prst="ellipse">
            <a:avLst/>
          </a:prstGeom>
          <a:solidFill>
            <a:srgbClr val="2E6BB8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10912" y="16733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715000" y="16367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log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0" y="203911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call, email and meeting against the customer.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926080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58952" y="3182112"/>
            <a:ext cx="530352" cy="530352"/>
          </a:xfrm>
          <a:prstGeom prst="ellipse">
            <a:avLst/>
          </a:prstGeom>
          <a:solidFill>
            <a:srgbClr val="2E6BB8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58952" y="31821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314553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Follow-ups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354787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 entry for follow-up on a date — the next one is always tracked.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10912" y="3182112"/>
            <a:ext cx="530352" cy="530352"/>
          </a:xfrm>
          <a:prstGeom prst="ellipse">
            <a:avLst/>
          </a:prstGeom>
          <a:solidFill>
            <a:srgbClr val="2E6BB8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10912" y="31821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715000" y="314553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Proposals &amp; portal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15000" y="354787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proposals and manage the customer’s portal access and requests.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6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PROPOSALS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spec to signed quote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detailed aircraft configuration for a customer: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model and add options grouped by category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base price, options, VAT and grand total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empty weight and remaining payload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polished PDF and e-mail it to the customer</a:t>
            </a:r>
            <a:endParaRPr lang="en-US" sz="13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also sees it in their portal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349240" y="1417320"/>
            <a:ext cx="329184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2356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6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PROPOSAL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2356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aircraft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949440" y="20116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€ 285,000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23560" y="23957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(7)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949440" y="23957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€ 42,500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23560" y="277977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949440" y="277977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€ 327,500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23560" y="316382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 (20%)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949440" y="316382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€ 65,500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23560" y="3584448"/>
            <a:ext cx="2743200" cy="10973"/>
          </a:xfrm>
          <a:prstGeom prst="rect">
            <a:avLst/>
          </a:prstGeom>
          <a:solidFill>
            <a:srgbClr val="C9D3E5"/>
          </a:solidFill>
          <a:ln/>
        </p:spPr>
      </p:sp>
      <p:sp>
        <p:nvSpPr>
          <p:cNvPr id="16" name="Shape 14"/>
          <p:cNvSpPr/>
          <p:nvPr/>
        </p:nvSpPr>
        <p:spPr>
          <a:xfrm>
            <a:off x="5623560" y="3703320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12203A"/>
          </a:solidFill>
          <a:ln/>
        </p:spPr>
      </p:sp>
      <p:sp>
        <p:nvSpPr>
          <p:cNvPr id="17" name="Text 15"/>
          <p:cNvSpPr/>
          <p:nvPr/>
        </p:nvSpPr>
        <p:spPr>
          <a:xfrm>
            <a:off x="5806440" y="37033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0" y="37033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€ 393,000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1B2E4E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965960"/>
            <a:ext cx="1188720" cy="1188720"/>
          </a:xfrm>
          <a:prstGeom prst="ellipse">
            <a:avLst/>
          </a:prstGeom>
          <a:solidFill>
            <a:srgbClr val="2E6BB8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965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520440" y="1737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PORTAL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93008" y="210312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separate, secure website for aircraft owners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3511296" y="32004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isolated from staff systems — customers can never reach internal fleet management, and logins are entirely separate.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6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PORTAL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 follow their build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68680" y="2066544"/>
            <a:ext cx="7406640" cy="0"/>
          </a:xfrm>
          <a:prstGeom prst="line">
            <a:avLst/>
          </a:prstGeom>
          <a:noFill/>
          <a:ln w="25400">
            <a:solidFill>
              <a:srgbClr val="5B9B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1783080"/>
            <a:ext cx="566928" cy="566928"/>
          </a:xfrm>
          <a:prstGeom prst="ellipse">
            <a:avLst/>
          </a:prstGeom>
          <a:solidFill>
            <a:srgbClr val="2E6BB8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85216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" y="24048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Layup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066544" y="1783080"/>
            <a:ext cx="566928" cy="566928"/>
          </a:xfrm>
          <a:prstGeom prst="ellipse">
            <a:avLst/>
          </a:prstGeom>
          <a:solidFill>
            <a:srgbClr val="2E6BB8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66544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09928" y="24048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47872" y="1783080"/>
            <a:ext cx="566928" cy="566928"/>
          </a:xfrm>
          <a:prstGeom prst="ellipse">
            <a:avLst/>
          </a:prstGeom>
          <a:solidFill>
            <a:srgbClr val="2E6BB8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47872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91256" y="24048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0" y="1783080"/>
            <a:ext cx="566928" cy="566928"/>
          </a:xfrm>
          <a:prstGeom prst="ellipse">
            <a:avLst/>
          </a:prstGeom>
          <a:solidFill>
            <a:srgbClr val="2E6BB8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72584" y="24048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10528" y="1783080"/>
            <a:ext cx="566928" cy="566928"/>
          </a:xfrm>
          <a:prstGeom prst="ellipse">
            <a:avLst/>
          </a:prstGeom>
          <a:solidFill>
            <a:srgbClr val="2E6BB8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10528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53912" y="24048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991856" y="1783080"/>
            <a:ext cx="566928" cy="566928"/>
          </a:xfrm>
          <a:prstGeom prst="ellipse">
            <a:avLst/>
          </a:prstGeom>
          <a:solidFill>
            <a:srgbClr val="2E9E6B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991856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35240" y="24048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progress — F1 Carbon Fibre Layup through to Aircraft Ready for Delivery, with progress photos.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29184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343814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Proposals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" y="385876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configuration proposals with full pricing.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642616" y="329184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825496" y="343814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825496" y="385876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 from Blackwing, with pictures.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82312" y="329184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65192" y="343814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maintenance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65192" y="385876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work on their own aircraft; see replies.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922008" y="329184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104888" y="343814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B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FAQ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104888" y="385876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to common questions.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6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ACCESS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right access for each person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D6574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99032" y="16276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99032" y="202996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 — administration, users and every setting.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0" y="1645920"/>
            <a:ext cx="457200" cy="457200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650992" y="16276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Supervisor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650992" y="202996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Fleet, maintenance, bulletins and customers; create and edit operational data.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292608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200400"/>
            <a:ext cx="457200" cy="45720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99032" y="31821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99032" y="358444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use — dashboard, fleet and assigned production tasks.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3200400"/>
            <a:ext cx="457200" cy="457200"/>
          </a:xfrm>
          <a:prstGeom prst="ellipse">
            <a:avLst/>
          </a:prstGeom>
          <a:solidFill>
            <a:srgbClr val="2E6BB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50992" y="31821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Viewer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650992" y="358444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dashboard and fleet; customers hidden.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6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protect the business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40690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591056"/>
            <a:ext cx="365760" cy="365760"/>
          </a:xfrm>
          <a:prstGeom prst="ellipse">
            <a:avLst/>
          </a:prstGeom>
          <a:solidFill>
            <a:srgbClr val="2E9E6B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9224" y="1591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46304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and customer logins are completely separate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502920" y="2212848"/>
            <a:ext cx="40690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" y="2340864"/>
            <a:ext cx="365760" cy="365760"/>
          </a:xfrm>
          <a:prstGeom prst="ellipse">
            <a:avLst/>
          </a:prstGeom>
          <a:solidFill>
            <a:srgbClr val="2E9E6B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" y="2340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2212848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stored only as strong bcrypt hashes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502920" y="2962656"/>
            <a:ext cx="40690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" y="3090672"/>
            <a:ext cx="365760" cy="365760"/>
          </a:xfrm>
          <a:prstGeom prst="ellipse">
            <a:avLst/>
          </a:prstGeom>
          <a:solidFill>
            <a:srgbClr val="2E9E6B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962656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password change on first login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502920" y="3712464"/>
            <a:ext cx="40690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" y="3840480"/>
            <a:ext cx="365760" cy="365760"/>
          </a:xfrm>
          <a:prstGeom prst="ellipse">
            <a:avLst/>
          </a:prstGeom>
          <a:solidFill>
            <a:srgbClr val="2E9E6B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3712464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expire automatically after 8 hours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4846320" y="1463040"/>
            <a:ext cx="40690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92624" y="1591056"/>
            <a:ext cx="365760" cy="365760"/>
          </a:xfrm>
          <a:prstGeom prst="ellipse">
            <a:avLst/>
          </a:prstGeom>
          <a:solidFill>
            <a:srgbClr val="2E9E6B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92624" y="1591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146304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pages rate-limited against guessing attacks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4846320" y="2212848"/>
            <a:ext cx="40690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92624" y="2340864"/>
            <a:ext cx="365760" cy="365760"/>
          </a:xfrm>
          <a:prstGeom prst="ellipse">
            <a:avLst/>
          </a:prstGeom>
          <a:solidFill>
            <a:srgbClr val="2E9E6B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92624" y="2340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0" y="2212848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checked against role on the server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4846320" y="2962656"/>
            <a:ext cx="40690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92624" y="3090672"/>
            <a:ext cx="365760" cy="365760"/>
          </a:xfrm>
          <a:prstGeom prst="ellipse">
            <a:avLst/>
          </a:prstGeom>
          <a:solidFill>
            <a:srgbClr val="2E9E6B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92624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0" y="2962656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restricted to images; database injection-safe</a:t>
            </a:r>
            <a:endParaRPr lang="en-US" sz="11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6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Modern, self-contained, portable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11580" y="1874520"/>
            <a:ext cx="548640" cy="548640"/>
          </a:xfrm>
          <a:prstGeom prst="ellipse">
            <a:avLst/>
          </a:prstGeom>
          <a:solidFill>
            <a:srgbClr val="2E6BB8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1158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514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29260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single-page interface in the browser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42616" y="155448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51276" y="1874520"/>
            <a:ext cx="548640" cy="548640"/>
          </a:xfrm>
          <a:prstGeom prst="ellipse">
            <a:avLst/>
          </a:prstGeom>
          <a:solidFill>
            <a:srgbClr val="2E6BB8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51276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34056" y="2514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825496" y="29260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API server with role-based access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82312" y="155448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90972" y="1874520"/>
            <a:ext cx="548640" cy="548640"/>
          </a:xfrm>
          <a:prstGeom prst="ellipse">
            <a:avLst/>
          </a:prstGeom>
          <a:solidFill>
            <a:srgbClr val="2E6BB8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90972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73752" y="2514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MariaDB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965192" y="29260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relational database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22008" y="155448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AA7BF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30668" y="1874520"/>
            <a:ext cx="548640" cy="548640"/>
          </a:xfrm>
          <a:prstGeom prst="ellipse">
            <a:avLst/>
          </a:prstGeom>
          <a:solidFill>
            <a:srgbClr val="2E6BB8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63066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13448" y="2514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104888" y="29260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build and deploy, anywhere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6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same on a laptop or the production server — migrations and seeding are automatic on every start.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1B2E4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system, end to end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3317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factory floor to the owner’s inbox — fleet, maintenance, customers and portal, working together.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Blackwing Sweden AB  ·  Aircraft Management Platform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0" y="1325880"/>
            <a:ext cx="868680" cy="868680"/>
          </a:xfrm>
          <a:prstGeom prst="ellipse">
            <a:avLst/>
          </a:prstGeom>
          <a:solidFill>
            <a:srgbClr val="2E6BB8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0" y="1325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✈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Blackwing Aircraft Management Platform</dc:title>
  <dc:subject>PptxGenJS Presentation</dc:subject>
  <dc:creator>Blackwing Sweden AB</dc:creator>
  <cp:lastModifiedBy>Blackwing Sweden AB</cp:lastModifiedBy>
  <cp:revision>1</cp:revision>
  <dcterms:created xsi:type="dcterms:W3CDTF">2026-07-02T16:26:16Z</dcterms:created>
  <dcterms:modified xsi:type="dcterms:W3CDTF">2026-07-02T16:26:16Z</dcterms:modified>
</cp:coreProperties>
</file>